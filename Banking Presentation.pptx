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Ultra-Bold" charset="1" panose="00000900000000000000"/>
      <p:regular r:id="rId19"/>
    </p:embeddedFont>
    <p:embeddedFont>
      <p:font typeface="Poppins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9.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0.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618286" y="6845642"/>
            <a:ext cx="6258035" cy="6297394"/>
          </a:xfrm>
          <a:custGeom>
            <a:avLst/>
            <a:gdLst/>
            <a:ahLst/>
            <a:cxnLst/>
            <a:rect r="r" b="b" t="t" l="l"/>
            <a:pathLst>
              <a:path h="6297394" w="6258035">
                <a:moveTo>
                  <a:pt x="0" y="0"/>
                </a:moveTo>
                <a:lnTo>
                  <a:pt x="6258035" y="0"/>
                </a:lnTo>
                <a:lnTo>
                  <a:pt x="6258035" y="6297394"/>
                </a:lnTo>
                <a:lnTo>
                  <a:pt x="0" y="6297394"/>
                </a:lnTo>
                <a:lnTo>
                  <a:pt x="0" y="0"/>
                </a:lnTo>
                <a:close/>
              </a:path>
            </a:pathLst>
          </a:custGeom>
          <a:blipFill>
            <a:blip r:embed="rId5">
              <a:alphaModFix amt="31000"/>
            </a:blip>
            <a:stretch>
              <a:fillRect l="0" t="0" r="0" b="0"/>
            </a:stretch>
          </a:blipFill>
        </p:spPr>
      </p:sp>
      <p:sp>
        <p:nvSpPr>
          <p:cNvPr name="TextBox 8" id="8"/>
          <p:cNvSpPr txBox="true"/>
          <p:nvPr/>
        </p:nvSpPr>
        <p:spPr>
          <a:xfrm rot="0">
            <a:off x="1436575" y="691565"/>
            <a:ext cx="3402138" cy="475470"/>
          </a:xfrm>
          <a:prstGeom prst="rect">
            <a:avLst/>
          </a:prstGeom>
        </p:spPr>
        <p:txBody>
          <a:bodyPr anchor="t" rtlCol="false" tIns="0" lIns="0" bIns="0" rIns="0">
            <a:spAutoFit/>
          </a:bodyPr>
          <a:lstStyle/>
          <a:p>
            <a:pPr algn="l" marL="0" indent="0" lvl="0">
              <a:lnSpc>
                <a:spcPts val="3717"/>
              </a:lnSpc>
            </a:pPr>
            <a:r>
              <a:rPr lang="en-US" b="true" sz="2655">
                <a:solidFill>
                  <a:srgbClr val="FFFFFF"/>
                </a:solidFill>
                <a:latin typeface="Poppins Ultra-Bold"/>
                <a:ea typeface="Poppins Ultra-Bold"/>
                <a:cs typeface="Poppins Ultra-Bold"/>
                <a:sym typeface="Poppins Ultra-Bold"/>
              </a:rPr>
              <a:t>Banking Analytics</a:t>
            </a:r>
          </a:p>
        </p:txBody>
      </p:sp>
      <p:sp>
        <p:nvSpPr>
          <p:cNvPr name="TextBox 9" id="9"/>
          <p:cNvSpPr txBox="true"/>
          <p:nvPr/>
        </p:nvSpPr>
        <p:spPr>
          <a:xfrm rot="0">
            <a:off x="2845183" y="2930347"/>
            <a:ext cx="12597633" cy="2525384"/>
          </a:xfrm>
          <a:prstGeom prst="rect">
            <a:avLst/>
          </a:prstGeom>
        </p:spPr>
        <p:txBody>
          <a:bodyPr anchor="t" rtlCol="false" tIns="0" lIns="0" bIns="0" rIns="0">
            <a:spAutoFit/>
          </a:bodyPr>
          <a:lstStyle/>
          <a:p>
            <a:pPr algn="ctr" marL="0" indent="0" lvl="0">
              <a:lnSpc>
                <a:spcPts val="6401"/>
              </a:lnSpc>
            </a:pPr>
            <a:r>
              <a:rPr lang="en-US" b="true" sz="6155">
                <a:solidFill>
                  <a:srgbClr val="FFFFFF"/>
                </a:solidFill>
                <a:latin typeface="Poppins Bold"/>
                <a:ea typeface="Poppins Bold"/>
                <a:cs typeface="Poppins Bold"/>
                <a:sym typeface="Poppins Bold"/>
              </a:rPr>
              <a:t>Banking Analytics: Customer Segmentation &amp; Risk Insights Report</a:t>
            </a:r>
          </a:p>
        </p:txBody>
      </p:sp>
      <p:sp>
        <p:nvSpPr>
          <p:cNvPr name="TextBox 10" id="10"/>
          <p:cNvSpPr txBox="true"/>
          <p:nvPr/>
        </p:nvSpPr>
        <p:spPr>
          <a:xfrm rot="0">
            <a:off x="4082481" y="6005441"/>
            <a:ext cx="10123037" cy="1118235"/>
          </a:xfrm>
          <a:prstGeom prst="rect">
            <a:avLst/>
          </a:prstGeom>
        </p:spPr>
        <p:txBody>
          <a:bodyPr anchor="t" rtlCol="false" tIns="0" lIns="0" bIns="0" rIns="0">
            <a:spAutoFit/>
          </a:bodyPr>
          <a:lstStyle/>
          <a:p>
            <a:pPr algn="ctr" marL="0" indent="0" lvl="0">
              <a:lnSpc>
                <a:spcPts val="2940"/>
              </a:lnSpc>
              <a:spcBef>
                <a:spcPct val="0"/>
              </a:spcBef>
            </a:pPr>
            <a:r>
              <a:rPr lang="en-US" b="true" sz="2100">
                <a:solidFill>
                  <a:srgbClr val="FFFFFF"/>
                </a:solidFill>
                <a:latin typeface="Poppins Bold"/>
                <a:ea typeface="Poppins Bold"/>
                <a:cs typeface="Poppins Bold"/>
                <a:sym typeface="Poppins Bold"/>
              </a:rPr>
              <a:t>A comprehensive analysis of customer behavior, loan distribution, deposit patterns, and risk insights to drive strategic banking decisions and sustainable growth.</a:t>
            </a:r>
          </a:p>
        </p:txBody>
      </p:sp>
      <p:sp>
        <p:nvSpPr>
          <p:cNvPr name="Freeform 11" id="11"/>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436575" y="8474462"/>
            <a:ext cx="4747340" cy="492586"/>
          </a:xfrm>
          <a:prstGeom prst="rect">
            <a:avLst/>
          </a:prstGeom>
        </p:spPr>
        <p:txBody>
          <a:bodyPr anchor="t" rtlCol="false" tIns="0" lIns="0" bIns="0" rIns="0">
            <a:spAutoFit/>
          </a:bodyPr>
          <a:lstStyle/>
          <a:p>
            <a:pPr algn="l" marL="0" indent="0" lvl="0">
              <a:lnSpc>
                <a:spcPts val="3824"/>
              </a:lnSpc>
            </a:pPr>
            <a:r>
              <a:rPr lang="en-US" b="true" sz="2731">
                <a:solidFill>
                  <a:srgbClr val="FFFFFF"/>
                </a:solidFill>
                <a:latin typeface="Poppins Bold"/>
                <a:ea typeface="Poppins Bold"/>
                <a:cs typeface="Poppins Bold"/>
                <a:sym typeface="Poppins Bold"/>
              </a:rPr>
              <a:t>Presented by:  Md Najish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87786" y="3204329"/>
            <a:ext cx="6817985" cy="4607731"/>
            <a:chOff x="0" y="0"/>
            <a:chExt cx="1448552" cy="978960"/>
          </a:xfrm>
        </p:grpSpPr>
        <p:sp>
          <p:nvSpPr>
            <p:cNvPr name="Freeform 8" id="8"/>
            <p:cNvSpPr/>
            <p:nvPr/>
          </p:nvSpPr>
          <p:spPr>
            <a:xfrm flipH="false" flipV="false" rot="0">
              <a:off x="0" y="0"/>
              <a:ext cx="1448552" cy="978960"/>
            </a:xfrm>
            <a:custGeom>
              <a:avLst/>
              <a:gdLst/>
              <a:ahLst/>
              <a:cxnLst/>
              <a:rect r="r" b="b" t="t" l="l"/>
              <a:pathLst>
                <a:path h="978960" w="1448552">
                  <a:moveTo>
                    <a:pt x="90841" y="0"/>
                  </a:moveTo>
                  <a:lnTo>
                    <a:pt x="1357710" y="0"/>
                  </a:lnTo>
                  <a:cubicBezTo>
                    <a:pt x="1407881" y="0"/>
                    <a:pt x="1448552" y="40671"/>
                    <a:pt x="1448552" y="90841"/>
                  </a:cubicBezTo>
                  <a:lnTo>
                    <a:pt x="1448552" y="888119"/>
                  </a:lnTo>
                  <a:cubicBezTo>
                    <a:pt x="1448552" y="912212"/>
                    <a:pt x="1438981" y="935317"/>
                    <a:pt x="1421945" y="952353"/>
                  </a:cubicBezTo>
                  <a:cubicBezTo>
                    <a:pt x="1404909" y="969389"/>
                    <a:pt x="1381803" y="978960"/>
                    <a:pt x="1357710" y="978960"/>
                  </a:cubicBezTo>
                  <a:lnTo>
                    <a:pt x="90841" y="978960"/>
                  </a:lnTo>
                  <a:cubicBezTo>
                    <a:pt x="66749" y="978960"/>
                    <a:pt x="43643" y="969389"/>
                    <a:pt x="26607" y="952353"/>
                  </a:cubicBezTo>
                  <a:cubicBezTo>
                    <a:pt x="9571" y="935317"/>
                    <a:pt x="0" y="912212"/>
                    <a:pt x="0" y="888119"/>
                  </a:cubicBezTo>
                  <a:lnTo>
                    <a:pt x="0" y="90841"/>
                  </a:lnTo>
                  <a:cubicBezTo>
                    <a:pt x="0" y="66749"/>
                    <a:pt x="9571" y="43643"/>
                    <a:pt x="26607" y="26607"/>
                  </a:cubicBezTo>
                  <a:cubicBezTo>
                    <a:pt x="43643" y="9571"/>
                    <a:pt x="66749" y="0"/>
                    <a:pt x="90841" y="0"/>
                  </a:cubicBezTo>
                  <a:close/>
                </a:path>
              </a:pathLst>
            </a:custGeom>
            <a:blipFill>
              <a:blip r:embed="rId5"/>
              <a:stretch>
                <a:fillRect l="-686" t="0" r="-686" b="0"/>
              </a:stretch>
            </a:blipFill>
            <a:ln w="323850" cap="rnd">
              <a:gradFill>
                <a:gsLst>
                  <a:gs pos="0">
                    <a:srgbClr val="00D1FF">
                      <a:alpha val="100000"/>
                    </a:srgbClr>
                  </a:gs>
                  <a:gs pos="100000">
                    <a:srgbClr val="001496">
                      <a:alpha val="100000"/>
                    </a:srgbClr>
                  </a:gs>
                </a:gsLst>
                <a:path path="circle">
                  <a:fillToRect l="0" r="100000" t="0" b="100000"/>
                </a:path>
                <a:tileRect r="0" l="-100000" b="0" t="-100000"/>
              </a:gradFill>
              <a:prstDash val="solid"/>
              <a:round/>
            </a:ln>
          </p:spPr>
        </p:sp>
      </p:grpSp>
      <p:sp>
        <p:nvSpPr>
          <p:cNvPr name="Freeform 9" id="9"/>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4465286" y="7200900"/>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8">
              <a:alphaModFix amt="58000"/>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8400094" y="1955798"/>
            <a:ext cx="7879312" cy="2535163"/>
          </a:xfrm>
          <a:prstGeom prst="rect">
            <a:avLst/>
          </a:prstGeom>
        </p:spPr>
        <p:txBody>
          <a:bodyPr anchor="t" rtlCol="false" tIns="0" lIns="0" bIns="0" rIns="0">
            <a:spAutoFit/>
          </a:bodyPr>
          <a:lstStyle/>
          <a:p>
            <a:pPr algn="just" marL="0" indent="0" lvl="0">
              <a:lnSpc>
                <a:spcPts val="9407"/>
              </a:lnSpc>
            </a:pPr>
            <a:r>
              <a:rPr lang="en-US" b="true" sz="9046">
                <a:solidFill>
                  <a:srgbClr val="FFFFFF"/>
                </a:solidFill>
                <a:latin typeface="Poppins Bold"/>
                <a:ea typeface="Poppins Bold"/>
                <a:cs typeface="Poppins Bold"/>
                <a:sym typeface="Poppins Bold"/>
              </a:rPr>
              <a:t>Project Overview</a:t>
            </a:r>
          </a:p>
        </p:txBody>
      </p:sp>
      <p:sp>
        <p:nvSpPr>
          <p:cNvPr name="TextBox 12" id="12"/>
          <p:cNvSpPr txBox="true"/>
          <p:nvPr/>
        </p:nvSpPr>
        <p:spPr>
          <a:xfrm rot="0">
            <a:off x="8564377" y="4902997"/>
            <a:ext cx="7715029" cy="2297903"/>
          </a:xfrm>
          <a:prstGeom prst="rect">
            <a:avLst/>
          </a:prstGeom>
        </p:spPr>
        <p:txBody>
          <a:bodyPr anchor="t" rtlCol="false" tIns="0" lIns="0" bIns="0" rIns="0">
            <a:spAutoFit/>
          </a:bodyPr>
          <a:lstStyle/>
          <a:p>
            <a:pPr algn="just" marL="0" indent="0" lvl="0">
              <a:lnSpc>
                <a:spcPts val="3018"/>
              </a:lnSpc>
              <a:spcBef>
                <a:spcPct val="0"/>
              </a:spcBef>
            </a:pPr>
            <a:r>
              <a:rPr lang="en-US" b="true" sz="2156">
                <a:solidFill>
                  <a:srgbClr val="FFFFFF"/>
                </a:solidFill>
                <a:latin typeface="Poppins Bold"/>
                <a:ea typeface="Poppins Bold"/>
                <a:cs typeface="Poppins Bold"/>
                <a:sym typeface="Poppins Bold"/>
              </a:rPr>
              <a:t>This report analyzes a comprehensive banking dataset using Python, SQL, and Power BI. Our focus centers on customer behavior patterns, loan portfolios, deposit trends, and overall financial performance. Interactive dashboards deliver key banking metrics and actionable insights.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38071" y="710527"/>
            <a:ext cx="514214" cy="514214"/>
          </a:xfrm>
          <a:custGeom>
            <a:avLst/>
            <a:gdLst/>
            <a:ahLst/>
            <a:cxnLst/>
            <a:rect r="r" b="b" t="t" l="l"/>
            <a:pathLst>
              <a:path h="514214" w="514214">
                <a:moveTo>
                  <a:pt x="0" y="0"/>
                </a:moveTo>
                <a:lnTo>
                  <a:pt x="514214" y="0"/>
                </a:lnTo>
                <a:lnTo>
                  <a:pt x="514214" y="514213"/>
                </a:lnTo>
                <a:lnTo>
                  <a:pt x="0" y="514213"/>
                </a:lnTo>
                <a:lnTo>
                  <a:pt x="0" y="0"/>
                </a:lnTo>
                <a:close/>
              </a:path>
            </a:pathLst>
          </a:custGeom>
          <a:blipFill>
            <a:blip r:embed="rId3"/>
            <a:stretch>
              <a:fillRect l="0" t="0" r="0" b="0"/>
            </a:stretch>
          </a:blipFill>
        </p:spPr>
      </p:sp>
      <p:sp>
        <p:nvSpPr>
          <p:cNvPr name="Freeform 7" id="7"/>
          <p:cNvSpPr/>
          <p:nvPr/>
        </p:nvSpPr>
        <p:spPr>
          <a:xfrm flipH="false" flipV="false" rot="0">
            <a:off x="10372838" y="1962834"/>
            <a:ext cx="6026403" cy="5849156"/>
          </a:xfrm>
          <a:custGeom>
            <a:avLst/>
            <a:gdLst/>
            <a:ahLst/>
            <a:cxnLst/>
            <a:rect r="r" b="b" t="t" l="l"/>
            <a:pathLst>
              <a:path h="5849156" w="6026403">
                <a:moveTo>
                  <a:pt x="0" y="0"/>
                </a:moveTo>
                <a:lnTo>
                  <a:pt x="6026403" y="0"/>
                </a:lnTo>
                <a:lnTo>
                  <a:pt x="6026403" y="5849156"/>
                </a:lnTo>
                <a:lnTo>
                  <a:pt x="0" y="5849156"/>
                </a:lnTo>
                <a:lnTo>
                  <a:pt x="0" y="0"/>
                </a:lnTo>
                <a:close/>
              </a:path>
            </a:pathLst>
          </a:custGeom>
          <a:blipFill>
            <a:blip r:embed="rId4"/>
            <a:stretch>
              <a:fillRect l="0" t="0" r="0" b="0"/>
            </a:stretch>
          </a:blipFill>
        </p:spPr>
      </p:sp>
      <p:sp>
        <p:nvSpPr>
          <p:cNvPr name="TextBox 8" id="8"/>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9" id="9"/>
          <p:cNvSpPr txBox="true"/>
          <p:nvPr/>
        </p:nvSpPr>
        <p:spPr>
          <a:xfrm rot="0">
            <a:off x="995178" y="4394523"/>
            <a:ext cx="8628931" cy="2923006"/>
          </a:xfrm>
          <a:prstGeom prst="rect">
            <a:avLst/>
          </a:prstGeom>
        </p:spPr>
        <p:txBody>
          <a:bodyPr anchor="t" rtlCol="false" tIns="0" lIns="0" bIns="0" rIns="0">
            <a:spAutoFit/>
          </a:bodyPr>
          <a:lstStyle/>
          <a:p>
            <a:pPr algn="just" marL="0" indent="0" lvl="0">
              <a:lnSpc>
                <a:spcPts val="2932"/>
              </a:lnSpc>
              <a:spcBef>
                <a:spcPct val="0"/>
              </a:spcBef>
            </a:pPr>
            <a:r>
              <a:rPr lang="en-US" b="true" sz="2094">
                <a:solidFill>
                  <a:srgbClr val="FFFFFF"/>
                </a:solidFill>
                <a:latin typeface="Poppins Bold"/>
                <a:ea typeface="Poppins Bold"/>
                <a:cs typeface="Poppins Bold"/>
                <a:sym typeface="Poppins Bold"/>
              </a:rPr>
              <a:t>T</a:t>
            </a:r>
            <a:r>
              <a:rPr lang="en-US" b="true" sz="2094">
                <a:solidFill>
                  <a:srgbClr val="FFFFFF"/>
                </a:solidFill>
                <a:latin typeface="Poppins Bold"/>
                <a:ea typeface="Poppins Bold"/>
                <a:cs typeface="Poppins Bold"/>
                <a:sym typeface="Poppins Bold"/>
              </a:rPr>
              <a:t>he bank is managing large volumes of loans and deposits but lacks clarity on:</a:t>
            </a:r>
          </a:p>
          <a:p>
            <a:pPr algn="just" marL="452170" indent="-226085" lvl="1">
              <a:lnSpc>
                <a:spcPts val="2932"/>
              </a:lnSpc>
              <a:spcBef>
                <a:spcPct val="0"/>
              </a:spcBef>
              <a:buFont typeface="Arial"/>
              <a:buChar char="•"/>
            </a:pPr>
            <a:r>
              <a:rPr lang="en-US" b="true" sz="2094">
                <a:solidFill>
                  <a:srgbClr val="FFFFFF"/>
                </a:solidFill>
                <a:latin typeface="Poppins Bold"/>
                <a:ea typeface="Poppins Bold"/>
                <a:cs typeface="Poppins Bold"/>
                <a:sym typeface="Poppins Bold"/>
              </a:rPr>
              <a:t>Which customer segments drive revenue</a:t>
            </a:r>
          </a:p>
          <a:p>
            <a:pPr algn="just" marL="452170" indent="-226085" lvl="1">
              <a:lnSpc>
                <a:spcPts val="2932"/>
              </a:lnSpc>
              <a:spcBef>
                <a:spcPct val="0"/>
              </a:spcBef>
              <a:buFont typeface="Arial"/>
              <a:buChar char="•"/>
            </a:pPr>
            <a:r>
              <a:rPr lang="en-US" b="true" sz="2094">
                <a:solidFill>
                  <a:srgbClr val="FFFFFF"/>
                </a:solidFill>
                <a:latin typeface="Poppins Bold"/>
                <a:ea typeface="Poppins Bold"/>
                <a:cs typeface="Poppins Bold"/>
                <a:sym typeface="Poppins Bold"/>
              </a:rPr>
              <a:t>Risk distribution across loan categories</a:t>
            </a:r>
          </a:p>
          <a:p>
            <a:pPr algn="just" marL="452170" indent="-226085" lvl="1">
              <a:lnSpc>
                <a:spcPts val="2932"/>
              </a:lnSpc>
              <a:spcBef>
                <a:spcPct val="0"/>
              </a:spcBef>
              <a:buFont typeface="Arial"/>
              <a:buChar char="•"/>
            </a:pPr>
            <a:r>
              <a:rPr lang="en-US" b="true" sz="2094">
                <a:solidFill>
                  <a:srgbClr val="FFFFFF"/>
                </a:solidFill>
                <a:latin typeface="Poppins Bold"/>
                <a:ea typeface="Poppins Bold"/>
                <a:cs typeface="Poppins Bold"/>
                <a:sym typeface="Poppins Bold"/>
              </a:rPr>
              <a:t>Deposit vs loan balance efficiency</a:t>
            </a:r>
          </a:p>
          <a:p>
            <a:pPr algn="just" marL="452170" indent="-226085" lvl="1">
              <a:lnSpc>
                <a:spcPts val="2932"/>
              </a:lnSpc>
              <a:spcBef>
                <a:spcPct val="0"/>
              </a:spcBef>
              <a:buFont typeface="Arial"/>
              <a:buChar char="•"/>
            </a:pPr>
            <a:r>
              <a:rPr lang="en-US" b="true" sz="2094">
                <a:solidFill>
                  <a:srgbClr val="FFFFFF"/>
                </a:solidFill>
                <a:latin typeface="Poppins Bold"/>
                <a:ea typeface="Poppins Bold"/>
                <a:cs typeface="Poppins Bold"/>
                <a:sym typeface="Poppins Bold"/>
              </a:rPr>
              <a:t>Customer demographics impact (gender, income, nationality)</a:t>
            </a:r>
          </a:p>
          <a:p>
            <a:pPr algn="just" marL="0" indent="0" lvl="0">
              <a:lnSpc>
                <a:spcPts val="2932"/>
              </a:lnSpc>
              <a:spcBef>
                <a:spcPct val="0"/>
              </a:spcBef>
            </a:pPr>
          </a:p>
        </p:txBody>
      </p:sp>
      <p:sp>
        <p:nvSpPr>
          <p:cNvPr name="TextBox 10" id="10"/>
          <p:cNvSpPr txBox="true"/>
          <p:nvPr/>
        </p:nvSpPr>
        <p:spPr>
          <a:xfrm rot="0">
            <a:off x="1028700" y="2000934"/>
            <a:ext cx="8595408" cy="1726839"/>
          </a:xfrm>
          <a:prstGeom prst="rect">
            <a:avLst/>
          </a:prstGeom>
        </p:spPr>
        <p:txBody>
          <a:bodyPr anchor="t" rtlCol="false" tIns="0" lIns="0" bIns="0" rIns="0">
            <a:spAutoFit/>
          </a:bodyPr>
          <a:lstStyle/>
          <a:p>
            <a:pPr algn="just" marL="0" indent="0" lvl="0">
              <a:lnSpc>
                <a:spcPts val="6481"/>
              </a:lnSpc>
            </a:pPr>
            <a:r>
              <a:rPr lang="en-US" b="true" sz="6232">
                <a:solidFill>
                  <a:srgbClr val="FFFFFF"/>
                </a:solidFill>
                <a:latin typeface="Poppins Bold"/>
                <a:ea typeface="Poppins Bold"/>
                <a:cs typeface="Poppins Bold"/>
                <a:sym typeface="Poppins Bold"/>
              </a:rPr>
              <a:t>Business Problem Statement</a:t>
            </a:r>
          </a:p>
        </p:txBody>
      </p:sp>
      <p:sp>
        <p:nvSpPr>
          <p:cNvPr name="AutoShape 11" id="11"/>
          <p:cNvSpPr/>
          <p:nvPr/>
        </p:nvSpPr>
        <p:spPr>
          <a:xfrm>
            <a:off x="-5590449" y="9258300"/>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9984383" y="9115299"/>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75B2E9">
                <a:alpha val="85882"/>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63256" y="411388"/>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8" id="8"/>
          <p:cNvGrpSpPr/>
          <p:nvPr/>
        </p:nvGrpSpPr>
        <p:grpSpPr>
          <a:xfrm rot="0">
            <a:off x="14251134" y="9096249"/>
            <a:ext cx="286001" cy="2860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294144" y="823032"/>
            <a:ext cx="15314640" cy="7806468"/>
          </a:xfrm>
          <a:custGeom>
            <a:avLst/>
            <a:gdLst/>
            <a:ahLst/>
            <a:cxnLst/>
            <a:rect r="r" b="b" t="t" l="l"/>
            <a:pathLst>
              <a:path h="7806468" w="15314640">
                <a:moveTo>
                  <a:pt x="0" y="0"/>
                </a:moveTo>
                <a:lnTo>
                  <a:pt x="15314640" y="0"/>
                </a:lnTo>
                <a:lnTo>
                  <a:pt x="15314640" y="7806468"/>
                </a:lnTo>
                <a:lnTo>
                  <a:pt x="0" y="7806468"/>
                </a:lnTo>
                <a:lnTo>
                  <a:pt x="0" y="0"/>
                </a:lnTo>
                <a:close/>
              </a:path>
            </a:pathLst>
          </a:custGeom>
          <a:blipFill>
            <a:blip r:embed="rId7"/>
            <a:stretch>
              <a:fillRect l="0" t="-5994" r="0" b="-5994"/>
            </a:stretch>
          </a:blipFill>
        </p:spPr>
      </p:sp>
      <p:sp>
        <p:nvSpPr>
          <p:cNvPr name="TextBox 13" id="13"/>
          <p:cNvSpPr txBox="true"/>
          <p:nvPr/>
        </p:nvSpPr>
        <p:spPr>
          <a:xfrm rot="0">
            <a:off x="1413353" y="464757"/>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36575" y="2321548"/>
            <a:ext cx="5960648" cy="5955134"/>
          </a:xfrm>
          <a:custGeom>
            <a:avLst/>
            <a:gdLst/>
            <a:ahLst/>
            <a:cxnLst/>
            <a:rect r="r" b="b" t="t" l="l"/>
            <a:pathLst>
              <a:path h="5955134" w="5960648">
                <a:moveTo>
                  <a:pt x="0" y="0"/>
                </a:moveTo>
                <a:lnTo>
                  <a:pt x="5960648" y="0"/>
                </a:lnTo>
                <a:lnTo>
                  <a:pt x="5960648" y="5955134"/>
                </a:lnTo>
                <a:lnTo>
                  <a:pt x="0" y="5955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9" id="9"/>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0" id="10"/>
          <p:cNvGrpSpPr/>
          <p:nvPr/>
        </p:nvGrpSpPr>
        <p:grpSpPr>
          <a:xfrm rot="0">
            <a:off x="14251134" y="9096249"/>
            <a:ext cx="286001" cy="28600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13" id="13"/>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14" id="14"/>
          <p:cNvSpPr txBox="true"/>
          <p:nvPr/>
        </p:nvSpPr>
        <p:spPr>
          <a:xfrm rot="0">
            <a:off x="8170543" y="1341350"/>
            <a:ext cx="8708398" cy="980198"/>
          </a:xfrm>
          <a:prstGeom prst="rect">
            <a:avLst/>
          </a:prstGeom>
        </p:spPr>
        <p:txBody>
          <a:bodyPr anchor="t" rtlCol="false" tIns="0" lIns="0" bIns="0" rIns="0">
            <a:spAutoFit/>
          </a:bodyPr>
          <a:lstStyle/>
          <a:p>
            <a:pPr algn="l" marL="0" indent="0" lvl="0">
              <a:lnSpc>
                <a:spcPts val="6970"/>
              </a:lnSpc>
            </a:pPr>
            <a:r>
              <a:rPr lang="en-US" b="true" sz="6702">
                <a:solidFill>
                  <a:srgbClr val="FFFFFF"/>
                </a:solidFill>
                <a:latin typeface="Poppins Bold"/>
                <a:ea typeface="Poppins Bold"/>
                <a:cs typeface="Poppins Bold"/>
                <a:sym typeface="Poppins Bold"/>
              </a:rPr>
              <a:t>Project Objectives</a:t>
            </a:r>
          </a:p>
        </p:txBody>
      </p:sp>
      <p:sp>
        <p:nvSpPr>
          <p:cNvPr name="TextBox 15" id="15"/>
          <p:cNvSpPr txBox="true"/>
          <p:nvPr/>
        </p:nvSpPr>
        <p:spPr>
          <a:xfrm rot="0">
            <a:off x="8170543" y="3725363"/>
            <a:ext cx="8501924" cy="2864867"/>
          </a:xfrm>
          <a:prstGeom prst="rect">
            <a:avLst/>
          </a:prstGeom>
        </p:spPr>
        <p:txBody>
          <a:bodyPr anchor="t" rtlCol="false" tIns="0" lIns="0" bIns="0" rIns="0">
            <a:spAutoFit/>
          </a:bodyPr>
          <a:lstStyle/>
          <a:p>
            <a:pPr algn="just" marL="504116" indent="-252058" lvl="1">
              <a:lnSpc>
                <a:spcPts val="3268"/>
              </a:lnSpc>
              <a:spcBef>
                <a:spcPct val="0"/>
              </a:spcBef>
              <a:buFont typeface="Arial"/>
              <a:buChar char="•"/>
            </a:pPr>
            <a:r>
              <a:rPr lang="en-US" b="true" sz="2334">
                <a:solidFill>
                  <a:srgbClr val="FFFFFF"/>
                </a:solidFill>
                <a:latin typeface="Poppins Bold"/>
                <a:ea typeface="Poppins Bold"/>
                <a:cs typeface="Poppins Bold"/>
                <a:sym typeface="Poppins Bold"/>
              </a:rPr>
              <a:t>Analyse total loans and deposits</a:t>
            </a:r>
          </a:p>
          <a:p>
            <a:pPr algn="just" marL="504116" indent="-252058" lvl="1">
              <a:lnSpc>
                <a:spcPts val="3268"/>
              </a:lnSpc>
              <a:spcBef>
                <a:spcPct val="0"/>
              </a:spcBef>
              <a:buFont typeface="Arial"/>
              <a:buChar char="•"/>
            </a:pPr>
            <a:r>
              <a:rPr lang="en-US" b="true" sz="2334">
                <a:solidFill>
                  <a:srgbClr val="FFFFFF"/>
                </a:solidFill>
                <a:latin typeface="Poppins Bold"/>
                <a:ea typeface="Poppins Bold"/>
                <a:cs typeface="Poppins Bold"/>
                <a:sym typeface="Poppins Bold"/>
              </a:rPr>
              <a:t>Identify high-value customer segments</a:t>
            </a:r>
          </a:p>
          <a:p>
            <a:pPr algn="just" marL="504116" indent="-252058" lvl="1">
              <a:lnSpc>
                <a:spcPts val="3268"/>
              </a:lnSpc>
              <a:spcBef>
                <a:spcPct val="0"/>
              </a:spcBef>
              <a:buFont typeface="Arial"/>
              <a:buChar char="•"/>
            </a:pPr>
            <a:r>
              <a:rPr lang="en-US" b="true" sz="2334">
                <a:solidFill>
                  <a:srgbClr val="FFFFFF"/>
                </a:solidFill>
                <a:latin typeface="Poppins Bold"/>
                <a:ea typeface="Poppins Bold"/>
                <a:cs typeface="Poppins Bold"/>
                <a:sym typeface="Poppins Bold"/>
              </a:rPr>
              <a:t>Evaluate loan distribution across income bands</a:t>
            </a:r>
          </a:p>
          <a:p>
            <a:pPr algn="just" marL="504116" indent="-252058" lvl="1">
              <a:lnSpc>
                <a:spcPts val="3268"/>
              </a:lnSpc>
              <a:spcBef>
                <a:spcPct val="0"/>
              </a:spcBef>
              <a:buFont typeface="Arial"/>
              <a:buChar char="•"/>
            </a:pPr>
            <a:r>
              <a:rPr lang="en-US" b="true" sz="2334">
                <a:solidFill>
                  <a:srgbClr val="FFFFFF"/>
                </a:solidFill>
                <a:latin typeface="Poppins Bold"/>
                <a:ea typeface="Poppins Bold"/>
                <a:cs typeface="Poppins Bold"/>
                <a:sym typeface="Poppins Bold"/>
              </a:rPr>
              <a:t>Understand demographic impact on banking products</a:t>
            </a:r>
          </a:p>
          <a:p>
            <a:pPr algn="just" marL="504116" indent="-252058" lvl="1">
              <a:lnSpc>
                <a:spcPts val="3268"/>
              </a:lnSpc>
              <a:spcBef>
                <a:spcPct val="0"/>
              </a:spcBef>
              <a:buFont typeface="Arial"/>
              <a:buChar char="•"/>
            </a:pPr>
            <a:r>
              <a:rPr lang="en-US" b="true" sz="2334">
                <a:solidFill>
                  <a:srgbClr val="FFFFFF"/>
                </a:solidFill>
                <a:latin typeface="Poppins Bold"/>
                <a:ea typeface="Poppins Bold"/>
                <a:cs typeface="Poppins Bold"/>
                <a:sym typeface="Poppins Bold"/>
              </a:rPr>
              <a:t>Provide insights for risk and growth optimization</a:t>
            </a:r>
          </a:p>
          <a:p>
            <a:pPr algn="just" marL="0" indent="0" lvl="0">
              <a:lnSpc>
                <a:spcPts val="3268"/>
              </a:lnSpc>
              <a:spcBef>
                <a:spcPct val="0"/>
              </a:spcBef>
            </a:pPr>
          </a:p>
        </p:txBody>
      </p:sp>
      <p:sp>
        <p:nvSpPr>
          <p:cNvPr name="TextBox 16" id="16"/>
          <p:cNvSpPr txBox="true"/>
          <p:nvPr/>
        </p:nvSpPr>
        <p:spPr>
          <a:xfrm rot="0">
            <a:off x="8170543" y="2359648"/>
            <a:ext cx="9157276" cy="1105057"/>
          </a:xfrm>
          <a:prstGeom prst="rect">
            <a:avLst/>
          </a:prstGeom>
        </p:spPr>
        <p:txBody>
          <a:bodyPr anchor="t" rtlCol="false" tIns="0" lIns="0" bIns="0" rIns="0">
            <a:spAutoFit/>
          </a:bodyPr>
          <a:lstStyle/>
          <a:p>
            <a:pPr algn="l" marL="0" indent="0" lvl="0">
              <a:lnSpc>
                <a:spcPts val="7808"/>
              </a:lnSpc>
            </a:pPr>
            <a:r>
              <a:rPr lang="en-US" b="true" sz="7507">
                <a:solidFill>
                  <a:srgbClr val="FFFFFF"/>
                </a:solidFill>
                <a:latin typeface="Poppins Bold"/>
                <a:ea typeface="Poppins Bold"/>
                <a:cs typeface="Poppins Bold"/>
                <a:sym typeface="Poppins Bold"/>
              </a:rPr>
              <a:t>Goals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75B2E9">
                <a:alpha val="85882"/>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9" id="9"/>
          <p:cNvGrpSpPr/>
          <p:nvPr/>
        </p:nvGrpSpPr>
        <p:grpSpPr>
          <a:xfrm rot="0">
            <a:off x="14251134" y="9096249"/>
            <a:ext cx="286001" cy="2860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2" id="12"/>
          <p:cNvSpPr/>
          <p:nvPr/>
        </p:nvSpPr>
        <p:spPr>
          <a:xfrm flipH="false" flipV="false" rot="0">
            <a:off x="1655245" y="1635480"/>
            <a:ext cx="14403436" cy="6655932"/>
          </a:xfrm>
          <a:custGeom>
            <a:avLst/>
            <a:gdLst/>
            <a:ahLst/>
            <a:cxnLst/>
            <a:rect r="r" b="b" t="t" l="l"/>
            <a:pathLst>
              <a:path h="6655932" w="14403436">
                <a:moveTo>
                  <a:pt x="0" y="0"/>
                </a:moveTo>
                <a:lnTo>
                  <a:pt x="14403436" y="0"/>
                </a:lnTo>
                <a:lnTo>
                  <a:pt x="14403436" y="6655932"/>
                </a:lnTo>
                <a:lnTo>
                  <a:pt x="0" y="6655932"/>
                </a:lnTo>
                <a:lnTo>
                  <a:pt x="0" y="0"/>
                </a:lnTo>
                <a:close/>
              </a:path>
            </a:pathLst>
          </a:custGeom>
          <a:blipFill>
            <a:blip r:embed="rId7"/>
            <a:stretch>
              <a:fillRect l="0" t="0" r="0" b="0"/>
            </a:stretch>
          </a:blipFill>
        </p:spPr>
      </p:sp>
      <p:sp>
        <p:nvSpPr>
          <p:cNvPr name="TextBox 13" id="13"/>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9" id="9"/>
          <p:cNvGrpSpPr/>
          <p:nvPr/>
        </p:nvGrpSpPr>
        <p:grpSpPr>
          <a:xfrm rot="0">
            <a:off x="14251134" y="9096249"/>
            <a:ext cx="286001" cy="2860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2" id="12"/>
          <p:cNvSpPr/>
          <p:nvPr/>
        </p:nvSpPr>
        <p:spPr>
          <a:xfrm flipH="false" flipV="false" rot="0">
            <a:off x="10998214" y="5163438"/>
            <a:ext cx="5749169" cy="3932811"/>
          </a:xfrm>
          <a:custGeom>
            <a:avLst/>
            <a:gdLst/>
            <a:ahLst/>
            <a:cxnLst/>
            <a:rect r="r" b="b" t="t" l="l"/>
            <a:pathLst>
              <a:path h="3932811" w="5749169">
                <a:moveTo>
                  <a:pt x="0" y="0"/>
                </a:moveTo>
                <a:lnTo>
                  <a:pt x="5749170" y="0"/>
                </a:lnTo>
                <a:lnTo>
                  <a:pt x="5749170" y="3932811"/>
                </a:lnTo>
                <a:lnTo>
                  <a:pt x="0" y="3932811"/>
                </a:lnTo>
                <a:lnTo>
                  <a:pt x="0" y="0"/>
                </a:lnTo>
                <a:close/>
              </a:path>
            </a:pathLst>
          </a:custGeom>
          <a:blipFill>
            <a:blip r:embed="rId7"/>
            <a:stretch>
              <a:fillRect l="0" t="0" r="0" b="0"/>
            </a:stretch>
          </a:blipFill>
        </p:spPr>
      </p:sp>
      <p:sp>
        <p:nvSpPr>
          <p:cNvPr name="Freeform 13" id="13"/>
          <p:cNvSpPr/>
          <p:nvPr/>
        </p:nvSpPr>
        <p:spPr>
          <a:xfrm flipH="false" flipV="false" rot="0">
            <a:off x="11137542" y="1028700"/>
            <a:ext cx="5749169" cy="3714789"/>
          </a:xfrm>
          <a:custGeom>
            <a:avLst/>
            <a:gdLst/>
            <a:ahLst/>
            <a:cxnLst/>
            <a:rect r="r" b="b" t="t" l="l"/>
            <a:pathLst>
              <a:path h="3714789" w="5749169">
                <a:moveTo>
                  <a:pt x="0" y="0"/>
                </a:moveTo>
                <a:lnTo>
                  <a:pt x="5749170" y="0"/>
                </a:lnTo>
                <a:lnTo>
                  <a:pt x="5749170" y="3714789"/>
                </a:lnTo>
                <a:lnTo>
                  <a:pt x="0" y="3714789"/>
                </a:lnTo>
                <a:lnTo>
                  <a:pt x="0" y="0"/>
                </a:lnTo>
                <a:close/>
              </a:path>
            </a:pathLst>
          </a:custGeom>
          <a:blipFill>
            <a:blip r:embed="rId8"/>
            <a:stretch>
              <a:fillRect l="0" t="0" r="-430" b="0"/>
            </a:stretch>
          </a:blipFill>
        </p:spPr>
      </p:sp>
      <p:sp>
        <p:nvSpPr>
          <p:cNvPr name="TextBox 14" id="14"/>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15" id="15"/>
          <p:cNvSpPr txBox="true"/>
          <p:nvPr/>
        </p:nvSpPr>
        <p:spPr>
          <a:xfrm rot="0">
            <a:off x="1154004" y="1327881"/>
            <a:ext cx="8487068" cy="1727130"/>
          </a:xfrm>
          <a:prstGeom prst="rect">
            <a:avLst/>
          </a:prstGeom>
        </p:spPr>
        <p:txBody>
          <a:bodyPr anchor="t" rtlCol="false" tIns="0" lIns="0" bIns="0" rIns="0">
            <a:spAutoFit/>
          </a:bodyPr>
          <a:lstStyle/>
          <a:p>
            <a:pPr algn="l" marL="0" indent="0" lvl="0">
              <a:lnSpc>
                <a:spcPts val="6496"/>
              </a:lnSpc>
            </a:pPr>
            <a:r>
              <a:rPr lang="en-US" b="true" sz="6246">
                <a:solidFill>
                  <a:srgbClr val="FFFFFF"/>
                </a:solidFill>
                <a:latin typeface="Poppins Bold"/>
                <a:ea typeface="Poppins Bold"/>
                <a:cs typeface="Poppins Bold"/>
                <a:sym typeface="Poppins Bold"/>
              </a:rPr>
              <a:t>Key Insights — Loan Analysis</a:t>
            </a:r>
          </a:p>
        </p:txBody>
      </p:sp>
      <p:sp>
        <p:nvSpPr>
          <p:cNvPr name="TextBox 16" id="16"/>
          <p:cNvSpPr txBox="true"/>
          <p:nvPr/>
        </p:nvSpPr>
        <p:spPr>
          <a:xfrm rot="0">
            <a:off x="1154004" y="3525516"/>
            <a:ext cx="7492923" cy="3209170"/>
          </a:xfrm>
          <a:prstGeom prst="rect">
            <a:avLst/>
          </a:prstGeom>
        </p:spPr>
        <p:txBody>
          <a:bodyPr anchor="t" rtlCol="false" tIns="0" lIns="0" bIns="0" rIns="0">
            <a:spAutoFit/>
          </a:bodyPr>
          <a:lstStyle/>
          <a:p>
            <a:pPr algn="just" marL="0" indent="0" lvl="0">
              <a:lnSpc>
                <a:spcPts val="3191"/>
              </a:lnSpc>
              <a:spcBef>
                <a:spcPct val="0"/>
              </a:spcBef>
            </a:pPr>
            <a:r>
              <a:rPr lang="en-US" b="true" sz="2279">
                <a:solidFill>
                  <a:srgbClr val="FFFFFF"/>
                </a:solidFill>
                <a:latin typeface="Poppins Bold"/>
                <a:ea typeface="Poppins Bold"/>
                <a:cs typeface="Poppins Bold"/>
                <a:sym typeface="Poppins Bold"/>
              </a:rPr>
              <a:t>Private Bank segment leads with approximately $814M in loans, followed by Retail and Commercial segments. Medium income customers dominate the loan portfolio at 53%, creating concentration risk. This uneven distribution increases risk exposure and highlights the need for portfolio diversification strategies.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l="0" t="0" r="0" b="0"/>
            </a:stretch>
          </a:blipFill>
        </p:spPr>
      </p:sp>
      <p:sp>
        <p:nvSpPr>
          <p:cNvPr name="AutoShape 8" id="8"/>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9" id="9"/>
          <p:cNvGrpSpPr/>
          <p:nvPr/>
        </p:nvGrpSpPr>
        <p:grpSpPr>
          <a:xfrm rot="0">
            <a:off x="14251134" y="9096249"/>
            <a:ext cx="286001" cy="2860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2" id="12"/>
          <p:cNvSpPr/>
          <p:nvPr/>
        </p:nvSpPr>
        <p:spPr>
          <a:xfrm flipH="false" flipV="false" rot="0">
            <a:off x="10988919" y="1598926"/>
            <a:ext cx="5092154" cy="3285261"/>
          </a:xfrm>
          <a:custGeom>
            <a:avLst/>
            <a:gdLst/>
            <a:ahLst/>
            <a:cxnLst/>
            <a:rect r="r" b="b" t="t" l="l"/>
            <a:pathLst>
              <a:path h="3285261" w="5092154">
                <a:moveTo>
                  <a:pt x="0" y="0"/>
                </a:moveTo>
                <a:lnTo>
                  <a:pt x="5092154" y="0"/>
                </a:lnTo>
                <a:lnTo>
                  <a:pt x="5092154" y="3285260"/>
                </a:lnTo>
                <a:lnTo>
                  <a:pt x="0" y="3285260"/>
                </a:lnTo>
                <a:lnTo>
                  <a:pt x="0" y="0"/>
                </a:lnTo>
                <a:close/>
              </a:path>
            </a:pathLst>
          </a:custGeom>
          <a:blipFill>
            <a:blip r:embed="rId7"/>
            <a:stretch>
              <a:fillRect l="0" t="0" r="0" b="0"/>
            </a:stretch>
          </a:blipFill>
        </p:spPr>
      </p:sp>
      <p:sp>
        <p:nvSpPr>
          <p:cNvPr name="Freeform 13" id="13"/>
          <p:cNvSpPr/>
          <p:nvPr/>
        </p:nvSpPr>
        <p:spPr>
          <a:xfrm flipH="false" flipV="false" rot="0">
            <a:off x="10988919" y="5224330"/>
            <a:ext cx="5092154" cy="3320363"/>
          </a:xfrm>
          <a:custGeom>
            <a:avLst/>
            <a:gdLst/>
            <a:ahLst/>
            <a:cxnLst/>
            <a:rect r="r" b="b" t="t" l="l"/>
            <a:pathLst>
              <a:path h="3320363" w="5092154">
                <a:moveTo>
                  <a:pt x="0" y="0"/>
                </a:moveTo>
                <a:lnTo>
                  <a:pt x="5092154" y="0"/>
                </a:lnTo>
                <a:lnTo>
                  <a:pt x="5092154" y="3320363"/>
                </a:lnTo>
                <a:lnTo>
                  <a:pt x="0" y="3320363"/>
                </a:lnTo>
                <a:lnTo>
                  <a:pt x="0" y="0"/>
                </a:lnTo>
                <a:close/>
              </a:path>
            </a:pathLst>
          </a:custGeom>
          <a:blipFill>
            <a:blip r:embed="rId8"/>
            <a:stretch>
              <a:fillRect l="0" t="0" r="0" b="0"/>
            </a:stretch>
          </a:blipFill>
        </p:spPr>
      </p:sp>
      <p:sp>
        <p:nvSpPr>
          <p:cNvPr name="TextBox 14" id="14"/>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15" id="15"/>
          <p:cNvSpPr txBox="true"/>
          <p:nvPr/>
        </p:nvSpPr>
        <p:spPr>
          <a:xfrm rot="0">
            <a:off x="1253230" y="1401810"/>
            <a:ext cx="8487068" cy="1931853"/>
          </a:xfrm>
          <a:prstGeom prst="rect">
            <a:avLst/>
          </a:prstGeom>
        </p:spPr>
        <p:txBody>
          <a:bodyPr anchor="t" rtlCol="false" tIns="0" lIns="0" bIns="0" rIns="0">
            <a:spAutoFit/>
          </a:bodyPr>
          <a:lstStyle/>
          <a:p>
            <a:pPr algn="l" marL="0" indent="0" lvl="0">
              <a:lnSpc>
                <a:spcPts val="7224"/>
              </a:lnSpc>
            </a:pPr>
            <a:r>
              <a:rPr lang="en-US" b="true" sz="6946">
                <a:solidFill>
                  <a:srgbClr val="FFFFFF"/>
                </a:solidFill>
                <a:latin typeface="Poppins Bold"/>
                <a:ea typeface="Poppins Bold"/>
                <a:cs typeface="Poppins Bold"/>
                <a:sym typeface="Poppins Bold"/>
              </a:rPr>
              <a:t>Key Insights — Deposit Analysis</a:t>
            </a:r>
          </a:p>
        </p:txBody>
      </p:sp>
      <p:sp>
        <p:nvSpPr>
          <p:cNvPr name="TextBox 16" id="16"/>
          <p:cNvSpPr txBox="true"/>
          <p:nvPr/>
        </p:nvSpPr>
        <p:spPr>
          <a:xfrm rot="0">
            <a:off x="1253230" y="4139803"/>
            <a:ext cx="7492923" cy="3134086"/>
          </a:xfrm>
          <a:prstGeom prst="rect">
            <a:avLst/>
          </a:prstGeom>
        </p:spPr>
        <p:txBody>
          <a:bodyPr anchor="t" rtlCol="false" tIns="0" lIns="0" bIns="0" rIns="0">
            <a:spAutoFit/>
          </a:bodyPr>
          <a:lstStyle/>
          <a:p>
            <a:pPr algn="just" marL="0" indent="0" lvl="0">
              <a:lnSpc>
                <a:spcPts val="3130"/>
              </a:lnSpc>
              <a:spcBef>
                <a:spcPct val="0"/>
              </a:spcBef>
            </a:pPr>
            <a:r>
              <a:rPr lang="en-US" b="true" sz="2235">
                <a:solidFill>
                  <a:srgbClr val="FFFFFF"/>
                </a:solidFill>
                <a:latin typeface="Poppins Bold"/>
                <a:ea typeface="Poppins Bold"/>
                <a:cs typeface="Poppins Bold"/>
                <a:sym typeface="Poppins Bold"/>
              </a:rPr>
              <a:t>Private Bank segment leads deposits with approximately $925M, demonstrating strong high-net-worth customer relationships. Medium income customers contribute the majority at ~54% of total deposits. This concentration reveals over-dependence on mid-income segments, creating vulnerability to market shifts affecting this demographic.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7" id="7"/>
          <p:cNvPicPr>
            <a:picLocks noChangeAspect="true"/>
          </p:cNvPicPr>
          <p:nvPr/>
        </p:nvPicPr>
        <p:blipFill>
          <a:blip r:embed="rId5"/>
          <a:stretch>
            <a:fillRect/>
          </a:stretch>
        </p:blipFill>
        <p:spPr>
          <a:xfrm rot="0">
            <a:off x="301298" y="1891121"/>
            <a:ext cx="8237861" cy="7379446"/>
          </a:xfrm>
          <a:prstGeom prst="rect">
            <a:avLst/>
          </a:prstGeom>
        </p:spPr>
      </p:pic>
      <p:sp>
        <p:nvSpPr>
          <p:cNvPr name="Freeform 8" id="8"/>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465286" y="7200900"/>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8">
              <a:alphaModFix amt="58000"/>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8921316" y="2774490"/>
            <a:ext cx="7879312" cy="1285229"/>
          </a:xfrm>
          <a:prstGeom prst="rect">
            <a:avLst/>
          </a:prstGeom>
        </p:spPr>
        <p:txBody>
          <a:bodyPr anchor="t" rtlCol="false" tIns="0" lIns="0" bIns="0" rIns="0">
            <a:spAutoFit/>
          </a:bodyPr>
          <a:lstStyle/>
          <a:p>
            <a:pPr algn="just" marL="0" indent="0" lvl="0">
              <a:lnSpc>
                <a:spcPts val="4841"/>
              </a:lnSpc>
            </a:pPr>
            <a:r>
              <a:rPr lang="en-US" b="true" sz="4655">
                <a:solidFill>
                  <a:srgbClr val="FFFFFF"/>
                </a:solidFill>
                <a:latin typeface="Poppins Bold"/>
                <a:ea typeface="Poppins Bold"/>
                <a:cs typeface="Poppins Bold"/>
                <a:sym typeface="Poppins Bold"/>
              </a:rPr>
              <a:t>Key Insights — Demographic Insights</a:t>
            </a:r>
          </a:p>
        </p:txBody>
      </p:sp>
      <p:sp>
        <p:nvSpPr>
          <p:cNvPr name="TextBox 11" id="11"/>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12" id="12"/>
          <p:cNvSpPr txBox="true"/>
          <p:nvPr/>
        </p:nvSpPr>
        <p:spPr>
          <a:xfrm rot="0">
            <a:off x="9144000" y="4507948"/>
            <a:ext cx="6677185" cy="3593246"/>
          </a:xfrm>
          <a:prstGeom prst="rect">
            <a:avLst/>
          </a:prstGeom>
        </p:spPr>
        <p:txBody>
          <a:bodyPr anchor="t" rtlCol="false" tIns="0" lIns="0" bIns="0" rIns="0">
            <a:spAutoFit/>
          </a:bodyPr>
          <a:lstStyle/>
          <a:p>
            <a:pPr algn="just" marL="0" indent="0" lvl="0">
              <a:lnSpc>
                <a:spcPts val="3547"/>
              </a:lnSpc>
              <a:spcBef>
                <a:spcPct val="0"/>
              </a:spcBef>
            </a:pPr>
            <a:r>
              <a:rPr lang="en-US" b="true" sz="2533">
                <a:solidFill>
                  <a:srgbClr val="FFFFFF"/>
                </a:solidFill>
                <a:latin typeface="Poppins Bold"/>
                <a:ea typeface="Poppins Bold"/>
                <a:cs typeface="Poppins Bold"/>
                <a:sym typeface="Poppins Bold"/>
              </a:rPr>
              <a:t>European customers dominate both loans and deposits, representing the majority of banking activity. Occupation categories show uneven distribution across segments. This reveals limited diversification in the customer base, creating concentration risk.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918645" y="1150048"/>
            <a:ext cx="7045104" cy="6192159"/>
          </a:xfrm>
          <a:custGeom>
            <a:avLst/>
            <a:gdLst/>
            <a:ahLst/>
            <a:cxnLst/>
            <a:rect r="r" b="b" t="t" l="l"/>
            <a:pathLst>
              <a:path h="6192159" w="7045104">
                <a:moveTo>
                  <a:pt x="0" y="0"/>
                </a:moveTo>
                <a:lnTo>
                  <a:pt x="7045104" y="0"/>
                </a:lnTo>
                <a:lnTo>
                  <a:pt x="7045104" y="6192159"/>
                </a:lnTo>
                <a:lnTo>
                  <a:pt x="0" y="6192159"/>
                </a:lnTo>
                <a:lnTo>
                  <a:pt x="0" y="0"/>
                </a:lnTo>
                <a:close/>
              </a:path>
            </a:pathLst>
          </a:custGeom>
          <a:blipFill>
            <a:blip r:embed="rId5"/>
            <a:stretch>
              <a:fillRect l="0" t="0" r="0" b="0"/>
            </a:stretch>
          </a:blipFill>
        </p:spPr>
      </p:sp>
      <p:sp>
        <p:nvSpPr>
          <p:cNvPr name="TextBox 8" id="8"/>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9" id="9"/>
          <p:cNvSpPr txBox="true"/>
          <p:nvPr/>
        </p:nvSpPr>
        <p:spPr>
          <a:xfrm rot="0">
            <a:off x="1093667" y="3824731"/>
            <a:ext cx="7490091" cy="2538962"/>
          </a:xfrm>
          <a:prstGeom prst="rect">
            <a:avLst/>
          </a:prstGeom>
        </p:spPr>
        <p:txBody>
          <a:bodyPr anchor="t" rtlCol="false" tIns="0" lIns="0" bIns="0" rIns="0">
            <a:spAutoFit/>
          </a:bodyPr>
          <a:lstStyle/>
          <a:p>
            <a:pPr algn="just" marL="0" indent="0" lvl="0">
              <a:lnSpc>
                <a:spcPts val="2857"/>
              </a:lnSpc>
              <a:spcBef>
                <a:spcPct val="0"/>
              </a:spcBef>
            </a:pPr>
            <a:r>
              <a:rPr lang="en-US" b="true" sz="2040">
                <a:solidFill>
                  <a:srgbClr val="FFFFFF"/>
                </a:solidFill>
                <a:latin typeface="Poppins Bold"/>
                <a:ea typeface="Poppins Bold"/>
                <a:cs typeface="Poppins Bold"/>
                <a:sym typeface="Poppins Bold"/>
              </a:rPr>
              <a:t>This </a:t>
            </a:r>
            <a:r>
              <a:rPr lang="en-US" b="true" sz="2040">
                <a:solidFill>
                  <a:srgbClr val="FFFFFF"/>
                </a:solidFill>
                <a:latin typeface="Poppins Bold"/>
                <a:ea typeface="Poppins Bold"/>
                <a:cs typeface="Poppins Bold"/>
                <a:sym typeface="Poppins Bold"/>
              </a:rPr>
              <a:t>analysis reveals critical challenges: Loan-to-Deposit imbalance creates liquidity risk ($4.4B loans vs $3.77B deposits). High dependency on medium-income customers (53-54% of portfolio). Concentration risk in Private Banking segment. Limited diversification across nationality and occupation categories. Uneven loan distribution signals potential credit risk exposure.</a:t>
            </a:r>
          </a:p>
        </p:txBody>
      </p:sp>
      <p:sp>
        <p:nvSpPr>
          <p:cNvPr name="TextBox 10" id="10"/>
          <p:cNvSpPr txBox="true"/>
          <p:nvPr/>
        </p:nvSpPr>
        <p:spPr>
          <a:xfrm rot="0">
            <a:off x="1253230" y="1888849"/>
            <a:ext cx="7146742" cy="1202457"/>
          </a:xfrm>
          <a:prstGeom prst="rect">
            <a:avLst/>
          </a:prstGeom>
        </p:spPr>
        <p:txBody>
          <a:bodyPr anchor="t" rtlCol="false" tIns="0" lIns="0" bIns="0" rIns="0">
            <a:spAutoFit/>
          </a:bodyPr>
          <a:lstStyle/>
          <a:p>
            <a:pPr algn="just" marL="0" indent="0" lvl="0">
              <a:lnSpc>
                <a:spcPts val="4505"/>
              </a:lnSpc>
            </a:pPr>
            <a:r>
              <a:rPr lang="en-US" b="true" sz="4332">
                <a:solidFill>
                  <a:srgbClr val="FFFFFF"/>
                </a:solidFill>
                <a:latin typeface="Poppins Bold"/>
                <a:ea typeface="Poppins Bold"/>
                <a:cs typeface="Poppins Bold"/>
                <a:sym typeface="Poppins Bold"/>
              </a:rPr>
              <a:t>Key Business Problems Identified</a:t>
            </a:r>
          </a:p>
        </p:txBody>
      </p:sp>
      <p:sp>
        <p:nvSpPr>
          <p:cNvPr name="AutoShape 11" id="11"/>
          <p:cNvSpPr/>
          <p:nvPr/>
        </p:nvSpPr>
        <p:spPr>
          <a:xfrm>
            <a:off x="-5590449" y="9258300"/>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9984383" y="9115299"/>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26519" y="2673492"/>
            <a:ext cx="8059226" cy="5379533"/>
          </a:xfrm>
          <a:custGeom>
            <a:avLst/>
            <a:gdLst/>
            <a:ahLst/>
            <a:cxnLst/>
            <a:rect r="r" b="b" t="t" l="l"/>
            <a:pathLst>
              <a:path h="5379533" w="8059226">
                <a:moveTo>
                  <a:pt x="0" y="0"/>
                </a:moveTo>
                <a:lnTo>
                  <a:pt x="8059225" y="0"/>
                </a:lnTo>
                <a:lnTo>
                  <a:pt x="8059225" y="5379533"/>
                </a:lnTo>
                <a:lnTo>
                  <a:pt x="0" y="5379533"/>
                </a:lnTo>
                <a:lnTo>
                  <a:pt x="0" y="0"/>
                </a:lnTo>
                <a:close/>
              </a:path>
            </a:pathLst>
          </a:custGeom>
          <a:blipFill>
            <a:blip r:embed="rId5"/>
            <a:stretch>
              <a:fillRect l="0" t="0" r="0" b="0"/>
            </a:stretch>
          </a:blipFill>
        </p:spPr>
      </p:sp>
      <p:sp>
        <p:nvSpPr>
          <p:cNvPr name="TextBox 8" id="8"/>
          <p:cNvSpPr txBox="true"/>
          <p:nvPr/>
        </p:nvSpPr>
        <p:spPr>
          <a:xfrm rot="0">
            <a:off x="1436575" y="729665"/>
            <a:ext cx="3402138" cy="265612"/>
          </a:xfrm>
          <a:prstGeom prst="rect">
            <a:avLst/>
          </a:prstGeom>
        </p:spPr>
        <p:txBody>
          <a:bodyPr anchor="t" rtlCol="false" tIns="0" lIns="0" bIns="0" rIns="0">
            <a:spAutoFit/>
          </a:bodyPr>
          <a:lstStyle/>
          <a:p>
            <a:pPr algn="l" marL="0" indent="0" lvl="0">
              <a:lnSpc>
                <a:spcPts val="2159"/>
              </a:lnSpc>
            </a:pPr>
            <a:r>
              <a:rPr lang="en-US" b="true" sz="1542">
                <a:solidFill>
                  <a:srgbClr val="FFFFFF"/>
                </a:solidFill>
                <a:latin typeface="Poppins Ultra-Bold"/>
                <a:ea typeface="Poppins Ultra-Bold"/>
                <a:cs typeface="Poppins Ultra-Bold"/>
                <a:sym typeface="Poppins Ultra-Bold"/>
              </a:rPr>
              <a:t>Banking Analytics Report</a:t>
            </a:r>
          </a:p>
        </p:txBody>
      </p:sp>
      <p:sp>
        <p:nvSpPr>
          <p:cNvPr name="TextBox 9" id="9"/>
          <p:cNvSpPr txBox="true"/>
          <p:nvPr/>
        </p:nvSpPr>
        <p:spPr>
          <a:xfrm rot="0">
            <a:off x="8251500" y="919621"/>
            <a:ext cx="8708398" cy="980198"/>
          </a:xfrm>
          <a:prstGeom prst="rect">
            <a:avLst/>
          </a:prstGeom>
        </p:spPr>
        <p:txBody>
          <a:bodyPr anchor="t" rtlCol="false" tIns="0" lIns="0" bIns="0" rIns="0">
            <a:spAutoFit/>
          </a:bodyPr>
          <a:lstStyle/>
          <a:p>
            <a:pPr algn="l" marL="0" indent="0" lvl="0">
              <a:lnSpc>
                <a:spcPts val="6970"/>
              </a:lnSpc>
            </a:pPr>
            <a:r>
              <a:rPr lang="en-US" b="true" sz="6702">
                <a:solidFill>
                  <a:srgbClr val="FFFFFF"/>
                </a:solidFill>
                <a:latin typeface="Poppins Bold"/>
                <a:ea typeface="Poppins Bold"/>
                <a:cs typeface="Poppins Bold"/>
                <a:sym typeface="Poppins Bold"/>
              </a:rPr>
              <a:t>Recommended</a:t>
            </a:r>
          </a:p>
        </p:txBody>
      </p:sp>
      <p:sp>
        <p:nvSpPr>
          <p:cNvPr name="TextBox 10" id="10"/>
          <p:cNvSpPr txBox="true"/>
          <p:nvPr/>
        </p:nvSpPr>
        <p:spPr>
          <a:xfrm rot="0">
            <a:off x="8029515" y="3194658"/>
            <a:ext cx="8563100" cy="5574898"/>
          </a:xfrm>
          <a:prstGeom prst="rect">
            <a:avLst/>
          </a:prstGeom>
        </p:spPr>
        <p:txBody>
          <a:bodyPr anchor="t" rtlCol="false" tIns="0" lIns="0" bIns="0" rIns="0">
            <a:spAutoFit/>
          </a:bodyPr>
          <a:lstStyle/>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Improve Deposit Mobilization: Launch high-interest </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savings products and target new customer segments</a:t>
            </a:r>
          </a:p>
          <a:p>
            <a:pPr algn="just" marL="0" indent="0" lvl="0">
              <a:lnSpc>
                <a:spcPts val="2997"/>
              </a:lnSpc>
              <a:spcBef>
                <a:spcPct val="0"/>
              </a:spcBef>
            </a:pP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Diversify Loan Portfolio: Expand</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underrepresented   segments and reduce private </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banking  dependency</a:t>
            </a:r>
          </a:p>
          <a:p>
            <a:pPr algn="just" marL="0" indent="0" lvl="0">
              <a:lnSpc>
                <a:spcPts val="2997"/>
              </a:lnSpc>
              <a:spcBef>
                <a:spcPct val="0"/>
              </a:spcBef>
            </a:pP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Strengthen Risk Management: Monitor loan </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concentration and implement stricter credit policies</a:t>
            </a:r>
          </a:p>
          <a:p>
            <a:pPr algn="just" marL="0" indent="0" lvl="0">
              <a:lnSpc>
                <a:spcPts val="2997"/>
              </a:lnSpc>
              <a:spcBef>
                <a:spcPct val="0"/>
              </a:spcBef>
            </a:pP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Customer Segmentation Strategy: Target low and </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high income groups with personalized products</a:t>
            </a:r>
          </a:p>
          <a:p>
            <a:pPr algn="just" marL="0" indent="0" lvl="0">
              <a:lnSpc>
                <a:spcPts val="2997"/>
              </a:lnSpc>
              <a:spcBef>
                <a:spcPct val="0"/>
              </a:spcBef>
            </a:pP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Market Expansion: Focus on underrepresented </a:t>
            </a:r>
          </a:p>
          <a:p>
            <a:pPr algn="just" marL="0" indent="0" lvl="0">
              <a:lnSpc>
                <a:spcPts val="2997"/>
              </a:lnSpc>
              <a:spcBef>
                <a:spcPct val="0"/>
              </a:spcBef>
            </a:pPr>
            <a:r>
              <a:rPr lang="en-US" b="true" sz="2140">
                <a:solidFill>
                  <a:srgbClr val="FFFFFF"/>
                </a:solidFill>
                <a:latin typeface="Poppins Bold"/>
                <a:ea typeface="Poppins Bold"/>
                <a:cs typeface="Poppins Bold"/>
                <a:sym typeface="Poppins Bold"/>
              </a:rPr>
              <a:t>    nationalities through targeted outreach campaigns</a:t>
            </a:r>
          </a:p>
        </p:txBody>
      </p:sp>
      <p:sp>
        <p:nvSpPr>
          <p:cNvPr name="TextBox 11" id="11"/>
          <p:cNvSpPr txBox="true"/>
          <p:nvPr/>
        </p:nvSpPr>
        <p:spPr>
          <a:xfrm rot="0">
            <a:off x="8251500" y="1947443"/>
            <a:ext cx="9157276" cy="1018540"/>
          </a:xfrm>
          <a:prstGeom prst="rect">
            <a:avLst/>
          </a:prstGeom>
        </p:spPr>
        <p:txBody>
          <a:bodyPr anchor="t" rtlCol="false" tIns="0" lIns="0" bIns="0" rIns="0">
            <a:spAutoFit/>
          </a:bodyPr>
          <a:lstStyle/>
          <a:p>
            <a:pPr algn="l" marL="0" indent="0" lvl="0">
              <a:lnSpc>
                <a:spcPts val="7279"/>
              </a:lnSpc>
            </a:pPr>
            <a:r>
              <a:rPr lang="en-US" b="true" sz="6999">
                <a:solidFill>
                  <a:srgbClr val="FFFFFF"/>
                </a:solidFill>
                <a:latin typeface="Poppins Bold"/>
                <a:ea typeface="Poppins Bold"/>
                <a:cs typeface="Poppins Bold"/>
                <a:sym typeface="Poppins Bold"/>
              </a:rPr>
              <a:t>Solutions</a:t>
            </a:r>
          </a:p>
        </p:txBody>
      </p:sp>
      <p:sp>
        <p:nvSpPr>
          <p:cNvPr name="Freeform 12" id="12"/>
          <p:cNvSpPr/>
          <p:nvPr/>
        </p:nvSpPr>
        <p:spPr>
          <a:xfrm flipH="false" flipV="false" rot="0">
            <a:off x="8029515" y="-1031595"/>
            <a:ext cx="12370599" cy="1799360"/>
          </a:xfrm>
          <a:custGeom>
            <a:avLst/>
            <a:gdLst/>
            <a:ahLst/>
            <a:cxnLst/>
            <a:rect r="r" b="b" t="t" l="l"/>
            <a:pathLst>
              <a:path h="1799360" w="12370599">
                <a:moveTo>
                  <a:pt x="0" y="0"/>
                </a:moveTo>
                <a:lnTo>
                  <a:pt x="12370599" y="0"/>
                </a:lnTo>
                <a:lnTo>
                  <a:pt x="12370599" y="1799360"/>
                </a:lnTo>
                <a:lnTo>
                  <a:pt x="0" y="1799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3" id="13"/>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4" id="14"/>
          <p:cNvGrpSpPr/>
          <p:nvPr/>
        </p:nvGrpSpPr>
        <p:grpSpPr>
          <a:xfrm rot="0">
            <a:off x="14251134" y="9096249"/>
            <a:ext cx="286001" cy="28600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384892" y="1587880"/>
            <a:ext cx="7074423" cy="6968306"/>
          </a:xfrm>
          <a:custGeom>
            <a:avLst/>
            <a:gdLst/>
            <a:ahLst/>
            <a:cxnLst/>
            <a:rect r="r" b="b" t="t" l="l"/>
            <a:pathLst>
              <a:path h="6968306" w="7074423">
                <a:moveTo>
                  <a:pt x="0" y="0"/>
                </a:moveTo>
                <a:lnTo>
                  <a:pt x="7074423" y="0"/>
                </a:lnTo>
                <a:lnTo>
                  <a:pt x="7074423" y="6968306"/>
                </a:lnTo>
                <a:lnTo>
                  <a:pt x="0" y="6968306"/>
                </a:lnTo>
                <a:lnTo>
                  <a:pt x="0" y="0"/>
                </a:lnTo>
                <a:close/>
              </a:path>
            </a:pathLst>
          </a:custGeom>
          <a:blipFill>
            <a:blip r:embed="rId5"/>
            <a:stretch>
              <a:fillRect l="0" t="0" r="0" b="0"/>
            </a:stretch>
          </a:blipFill>
        </p:spPr>
      </p:sp>
      <p:sp>
        <p:nvSpPr>
          <p:cNvPr name="TextBox 8" id="8"/>
          <p:cNvSpPr txBox="true"/>
          <p:nvPr/>
        </p:nvSpPr>
        <p:spPr>
          <a:xfrm rot="0">
            <a:off x="1436575" y="691565"/>
            <a:ext cx="3402138" cy="483919"/>
          </a:xfrm>
          <a:prstGeom prst="rect">
            <a:avLst/>
          </a:prstGeom>
        </p:spPr>
        <p:txBody>
          <a:bodyPr anchor="t" rtlCol="false" tIns="0" lIns="0" bIns="0" rIns="0">
            <a:spAutoFit/>
          </a:bodyPr>
          <a:lstStyle/>
          <a:p>
            <a:pPr algn="l" marL="0" indent="0" lvl="0">
              <a:lnSpc>
                <a:spcPts val="3777"/>
              </a:lnSpc>
            </a:pPr>
            <a:r>
              <a:rPr lang="en-US" b="true" sz="2698">
                <a:solidFill>
                  <a:srgbClr val="FFFFFF"/>
                </a:solidFill>
                <a:latin typeface="Poppins Ultra-Bold"/>
                <a:ea typeface="Poppins Ultra-Bold"/>
                <a:cs typeface="Poppins Ultra-Bold"/>
                <a:sym typeface="Poppins Ultra-Bold"/>
              </a:rPr>
              <a:t>Banking Analytics</a:t>
            </a:r>
          </a:p>
        </p:txBody>
      </p:sp>
      <p:sp>
        <p:nvSpPr>
          <p:cNvPr name="TextBox 9" id="9"/>
          <p:cNvSpPr txBox="true"/>
          <p:nvPr/>
        </p:nvSpPr>
        <p:spPr>
          <a:xfrm rot="0">
            <a:off x="1794079" y="2609411"/>
            <a:ext cx="8487068" cy="1326947"/>
          </a:xfrm>
          <a:prstGeom prst="rect">
            <a:avLst/>
          </a:prstGeom>
        </p:spPr>
        <p:txBody>
          <a:bodyPr anchor="t" rtlCol="false" tIns="0" lIns="0" bIns="0" rIns="0">
            <a:spAutoFit/>
          </a:bodyPr>
          <a:lstStyle/>
          <a:p>
            <a:pPr algn="l" marL="0" indent="0" lvl="0">
              <a:lnSpc>
                <a:spcPts val="9414"/>
              </a:lnSpc>
            </a:pPr>
            <a:r>
              <a:rPr lang="en-US" b="true" sz="9052">
                <a:solidFill>
                  <a:srgbClr val="FFFFFF"/>
                </a:solidFill>
                <a:latin typeface="Poppins Bold"/>
                <a:ea typeface="Poppins Bold"/>
                <a:cs typeface="Poppins Bold"/>
                <a:sym typeface="Poppins Bold"/>
              </a:rPr>
              <a:t>Tools Used</a:t>
            </a:r>
          </a:p>
        </p:txBody>
      </p:sp>
      <p:sp>
        <p:nvSpPr>
          <p:cNvPr name="TextBox 10" id="10"/>
          <p:cNvSpPr txBox="true"/>
          <p:nvPr/>
        </p:nvSpPr>
        <p:spPr>
          <a:xfrm rot="0">
            <a:off x="1794079" y="5530654"/>
            <a:ext cx="6841050" cy="2194510"/>
          </a:xfrm>
          <a:prstGeom prst="rect">
            <a:avLst/>
          </a:prstGeom>
        </p:spPr>
        <p:txBody>
          <a:bodyPr anchor="t" rtlCol="false" tIns="0" lIns="0" bIns="0" rIns="0">
            <a:spAutoFit/>
          </a:bodyPr>
          <a:lstStyle/>
          <a:p>
            <a:pPr algn="just" marL="0" indent="0" lvl="0">
              <a:lnSpc>
                <a:spcPts val="3467"/>
              </a:lnSpc>
              <a:spcBef>
                <a:spcPct val="0"/>
              </a:spcBef>
            </a:pPr>
            <a:r>
              <a:rPr lang="en-US" b="true" sz="2476">
                <a:solidFill>
                  <a:srgbClr val="FFFFFF"/>
                </a:solidFill>
                <a:latin typeface="Poppins Bold"/>
                <a:ea typeface="Poppins Bold"/>
                <a:cs typeface="Poppins Bold"/>
                <a:sym typeface="Poppins Bold"/>
              </a:rPr>
              <a:t>MS Excel for data preparation and exploration. SQL for data querying and extraction. Power BI for interactive dashboard visualization. Python for advanced data analysis and modeling.</a:t>
            </a:r>
          </a:p>
        </p:txBody>
      </p:sp>
      <p:sp>
        <p:nvSpPr>
          <p:cNvPr name="AutoShape 11" id="11"/>
          <p:cNvSpPr/>
          <p:nvPr/>
        </p:nvSpPr>
        <p:spPr>
          <a:xfrm>
            <a:off x="-1323699" y="9239250"/>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14251134" y="9096249"/>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false" rot="0">
            <a:off x="15201900" y="-2854591"/>
            <a:ext cx="6172200" cy="6172200"/>
          </a:xfrm>
          <a:custGeom>
            <a:avLst/>
            <a:gdLst/>
            <a:ahLst/>
            <a:cxnLst/>
            <a:rect r="r" b="b" t="t" l="l"/>
            <a:pathLst>
              <a:path h="6172200" w="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070D32">
                    <a:alpha val="86000"/>
                  </a:srgbClr>
                </a:gs>
                <a:gs pos="100000">
                  <a:srgbClr val="001496">
                    <a:alpha val="86000"/>
                  </a:srgbClr>
                </a:gs>
              </a:gsLst>
              <a:path path="circle">
                <a:fillToRect l="0" r="100000" t="0" b="100000"/>
              </a:path>
              <a:tileRect r="0" l="-100000" b="0" t="-100000"/>
            </a:gra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722342" y="672469"/>
            <a:ext cx="530888" cy="617312"/>
          </a:xfrm>
          <a:custGeom>
            <a:avLst/>
            <a:gdLst/>
            <a:ahLst/>
            <a:cxnLst/>
            <a:rect r="r" b="b" t="t" l="l"/>
            <a:pathLst>
              <a:path h="617312" w="530888">
                <a:moveTo>
                  <a:pt x="0" y="0"/>
                </a:moveTo>
                <a:lnTo>
                  <a:pt x="530888" y="0"/>
                </a:lnTo>
                <a:lnTo>
                  <a:pt x="530888" y="617312"/>
                </a:lnTo>
                <a:lnTo>
                  <a:pt x="0" y="617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783504" y="623432"/>
            <a:ext cx="7849159" cy="8907295"/>
          </a:xfrm>
          <a:custGeom>
            <a:avLst/>
            <a:gdLst/>
            <a:ahLst/>
            <a:cxnLst/>
            <a:rect r="r" b="b" t="t" l="l"/>
            <a:pathLst>
              <a:path h="8907295" w="7849159">
                <a:moveTo>
                  <a:pt x="0" y="0"/>
                </a:moveTo>
                <a:lnTo>
                  <a:pt x="7849159" y="0"/>
                </a:lnTo>
                <a:lnTo>
                  <a:pt x="7849159" y="8907296"/>
                </a:lnTo>
                <a:lnTo>
                  <a:pt x="0" y="8907296"/>
                </a:lnTo>
                <a:lnTo>
                  <a:pt x="0" y="0"/>
                </a:lnTo>
                <a:close/>
              </a:path>
            </a:pathLst>
          </a:custGeom>
          <a:blipFill>
            <a:blip r:embed="rId5"/>
            <a:stretch>
              <a:fillRect l="0" t="0" r="0" b="0"/>
            </a:stretch>
          </a:blipFill>
        </p:spPr>
      </p:sp>
      <p:sp>
        <p:nvSpPr>
          <p:cNvPr name="TextBox 8" id="8"/>
          <p:cNvSpPr txBox="true"/>
          <p:nvPr/>
        </p:nvSpPr>
        <p:spPr>
          <a:xfrm rot="0">
            <a:off x="1436575" y="710615"/>
            <a:ext cx="3402138" cy="358274"/>
          </a:xfrm>
          <a:prstGeom prst="rect">
            <a:avLst/>
          </a:prstGeom>
        </p:spPr>
        <p:txBody>
          <a:bodyPr anchor="t" rtlCol="false" tIns="0" lIns="0" bIns="0" rIns="0">
            <a:spAutoFit/>
          </a:bodyPr>
          <a:lstStyle/>
          <a:p>
            <a:pPr algn="l" marL="0" indent="0" lvl="0">
              <a:lnSpc>
                <a:spcPts val="2827"/>
              </a:lnSpc>
            </a:pPr>
            <a:r>
              <a:rPr lang="en-US" b="true" sz="2019">
                <a:solidFill>
                  <a:srgbClr val="FFFFFF"/>
                </a:solidFill>
                <a:latin typeface="Poppins Ultra-Bold"/>
                <a:ea typeface="Poppins Ultra-Bold"/>
                <a:cs typeface="Poppins Ultra-Bold"/>
                <a:sym typeface="Poppins Ultra-Bold"/>
              </a:rPr>
              <a:t>Banking Analytics Report</a:t>
            </a:r>
          </a:p>
        </p:txBody>
      </p:sp>
      <p:sp>
        <p:nvSpPr>
          <p:cNvPr name="TextBox 9" id="9"/>
          <p:cNvSpPr txBox="true"/>
          <p:nvPr/>
        </p:nvSpPr>
        <p:spPr>
          <a:xfrm rot="0">
            <a:off x="1225505" y="1810361"/>
            <a:ext cx="8487068" cy="2526967"/>
          </a:xfrm>
          <a:prstGeom prst="rect">
            <a:avLst/>
          </a:prstGeom>
        </p:spPr>
        <p:txBody>
          <a:bodyPr anchor="t" rtlCol="false" tIns="0" lIns="0" bIns="0" rIns="0">
            <a:spAutoFit/>
          </a:bodyPr>
          <a:lstStyle/>
          <a:p>
            <a:pPr algn="l" marL="0" indent="0" lvl="0">
              <a:lnSpc>
                <a:spcPts val="9407"/>
              </a:lnSpc>
            </a:pPr>
            <a:r>
              <a:rPr lang="en-US" b="true" sz="9046">
                <a:solidFill>
                  <a:srgbClr val="FFFFFF"/>
                </a:solidFill>
                <a:latin typeface="Poppins Bold"/>
                <a:ea typeface="Poppins Bold"/>
                <a:cs typeface="Poppins Bold"/>
                <a:sym typeface="Poppins Bold"/>
              </a:rPr>
              <a:t>Conclusion &amp; Next Steps</a:t>
            </a:r>
          </a:p>
        </p:txBody>
      </p:sp>
      <p:sp>
        <p:nvSpPr>
          <p:cNvPr name="TextBox 10" id="10"/>
          <p:cNvSpPr txBox="true"/>
          <p:nvPr/>
        </p:nvSpPr>
        <p:spPr>
          <a:xfrm rot="0">
            <a:off x="1436575" y="5019930"/>
            <a:ext cx="7349921" cy="2009654"/>
          </a:xfrm>
          <a:prstGeom prst="rect">
            <a:avLst/>
          </a:prstGeom>
        </p:spPr>
        <p:txBody>
          <a:bodyPr anchor="t" rtlCol="false" tIns="0" lIns="0" bIns="0" rIns="0">
            <a:spAutoFit/>
          </a:bodyPr>
          <a:lstStyle/>
          <a:p>
            <a:pPr algn="just" marL="0" indent="0" lvl="0">
              <a:lnSpc>
                <a:spcPts val="2631"/>
              </a:lnSpc>
              <a:spcBef>
                <a:spcPct val="0"/>
              </a:spcBef>
            </a:pPr>
            <a:r>
              <a:rPr lang="en-US" b="true" sz="1879">
                <a:solidFill>
                  <a:srgbClr val="FFFFFF"/>
                </a:solidFill>
                <a:latin typeface="Poppins Bold"/>
                <a:ea typeface="Poppins Bold"/>
                <a:cs typeface="Poppins Bold"/>
                <a:sym typeface="Poppins Bold"/>
              </a:rPr>
              <a:t>This </a:t>
            </a:r>
            <a:r>
              <a:rPr lang="en-US" b="true" sz="1879">
                <a:solidFill>
                  <a:srgbClr val="FFFFFF"/>
                </a:solidFill>
                <a:latin typeface="Poppins Bold"/>
                <a:ea typeface="Poppins Bold"/>
                <a:cs typeface="Poppins Bold"/>
                <a:sym typeface="Poppins Bold"/>
              </a:rPr>
              <a:t>analysis reveals critical liquidity imbalance and customer concentration risks requiring strategic action. Recommendations focus on deposit growth, portfolio diversification, and targeted segmentation to support sustainable growth and risk reduction. We welcome your questions and discussion.</a:t>
            </a:r>
          </a:p>
        </p:txBody>
      </p:sp>
      <p:sp>
        <p:nvSpPr>
          <p:cNvPr name="AutoShape 11" id="11"/>
          <p:cNvSpPr/>
          <p:nvPr/>
        </p:nvSpPr>
        <p:spPr>
          <a:xfrm>
            <a:off x="8598915" y="1042987"/>
            <a:ext cx="15717833" cy="19050"/>
          </a:xfrm>
          <a:prstGeom prst="line">
            <a:avLst/>
          </a:prstGeom>
          <a:ln cap="flat" w="28575">
            <a:solidFill>
              <a:srgbClr val="64DBFF"/>
            </a:solidFill>
            <a:prstDash val="solid"/>
            <a:headEnd type="none" len="sm" w="sm"/>
            <a:tailEnd type="none" len="sm" w="sm"/>
          </a:ln>
        </p:spPr>
      </p:sp>
      <p:grpSp>
        <p:nvGrpSpPr>
          <p:cNvPr name="Group 12" id="12"/>
          <p:cNvGrpSpPr/>
          <p:nvPr/>
        </p:nvGrpSpPr>
        <p:grpSpPr>
          <a:xfrm rot="0">
            <a:off x="8455914" y="899987"/>
            <a:ext cx="286001" cy="2860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15" id="15"/>
          <p:cNvSpPr/>
          <p:nvPr/>
        </p:nvSpPr>
        <p:spPr>
          <a:xfrm flipH="false" flipV="true" rot="0">
            <a:off x="-3226599" y="8963464"/>
            <a:ext cx="12370599" cy="1799360"/>
          </a:xfrm>
          <a:custGeom>
            <a:avLst/>
            <a:gdLst/>
            <a:ahLst/>
            <a:cxnLst/>
            <a:rect r="r" b="b" t="t" l="l"/>
            <a:pathLst>
              <a:path h="1799360" w="12370599">
                <a:moveTo>
                  <a:pt x="0" y="1799360"/>
                </a:moveTo>
                <a:lnTo>
                  <a:pt x="12370599" y="1799360"/>
                </a:lnTo>
                <a:lnTo>
                  <a:pt x="12370599" y="0"/>
                </a:lnTo>
                <a:lnTo>
                  <a:pt x="0" y="0"/>
                </a:lnTo>
                <a:lnTo>
                  <a:pt x="0" y="179936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DAHIK968jIE</dc:identifier>
  <dcterms:modified xsi:type="dcterms:W3CDTF">2011-08-01T06:04:30Z</dcterms:modified>
  <cp:revision>1</cp:revision>
  <dc:title>Banking Analytics: Segmentation &amp; Risk Insights</dc:title>
</cp:coreProperties>
</file>